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DE4"/>
    <a:srgbClr val="D1F3FF"/>
    <a:srgbClr val="F04B25"/>
    <a:srgbClr val="00A481"/>
    <a:srgbClr val="FBB700"/>
    <a:srgbClr val="005954"/>
    <a:srgbClr val="15665F"/>
    <a:srgbClr val="F2F2F2"/>
    <a:srgbClr val="333233"/>
    <a:srgbClr val="BA77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5CBE3-5231-5E29-C5B0-0ACAA27B7B4C}" v="678" dt="2026-05-05T13:02:33.493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82" y="-29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4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E2ABB-3E4F-4D41-8568-7C902D8340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7AD07-52BA-4654-AB16-B5FB95B8BA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FE1BA-D506-40EE-B152-1FC809E35E5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EFF96-CB5A-4136-B37B-371A897ECA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80E3A-98E2-4FFC-B81C-C354A7B3B9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F6829-522D-411D-99E3-19D7738EE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9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22A5C-B1F3-4931-941D-123ADD0E9CE3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98550-2AA3-427C-8530-E6B958473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0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98550-2AA3-427C-8530-E6B9584732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38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13C87C7-5821-BC93-D491-2D341E2ED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50" y="760603"/>
            <a:ext cx="10992455" cy="45719"/>
          </a:xfrm>
          <a:prstGeom prst="rect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79281-D6A2-9113-842E-52BA21301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7598" y="1134316"/>
            <a:ext cx="8196805" cy="2872535"/>
          </a:xfrm>
        </p:spPr>
        <p:txBody>
          <a:bodyPr bIns="0" anchor="b">
            <a:noAutofit/>
          </a:bodyPr>
          <a:lstStyle>
            <a:lvl1pPr algn="ctr">
              <a:lnSpc>
                <a:spcPct val="70000"/>
              </a:lnSpc>
              <a:defRPr sz="11500" b="1" spc="-50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E790539-5576-6E20-76CE-838FCBFA1B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989" y="776614"/>
            <a:ext cx="2261384" cy="1304000"/>
          </a:xfrm>
          <a:solidFill>
            <a:schemeClr val="accent2"/>
          </a:solidFill>
        </p:spPr>
        <p:txBody>
          <a:bodyPr tIns="91440" bIns="0" anchor="ctr"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2800" b="1" cap="all" spc="-150" baseline="0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</a:t>
            </a:r>
          </a:p>
          <a:p>
            <a:pPr lvl="0"/>
            <a:r>
              <a:rPr lang="en-US" dirty="0"/>
              <a:t>text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F4D90386-5045-9142-B669-3A4F71F15C98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8898456" y="1853528"/>
            <a:ext cx="1628552" cy="122651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49C83E00-6F31-B188-424A-B276312C46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9773" y="4026530"/>
            <a:ext cx="10992455" cy="525074"/>
          </a:xfrm>
        </p:spPr>
        <p:txBody>
          <a:bodyPr tIns="0">
            <a:noAutofit/>
          </a:bodyPr>
          <a:lstStyle>
            <a:lvl1pPr marL="0" indent="0" algn="ctr">
              <a:buNone/>
              <a:defRPr sz="2800" b="1"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43F97-7D48-F9EA-04C2-C3A1E40A4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50" y="4911688"/>
            <a:ext cx="10992455" cy="45719"/>
          </a:xfrm>
          <a:prstGeom prst="rect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792914F-87A7-29B3-6934-DF2472809A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988" y="5399966"/>
            <a:ext cx="5408411" cy="1092614"/>
          </a:xfrm>
          <a:solidFill>
            <a:schemeClr val="accent2"/>
          </a:solidFill>
        </p:spPr>
        <p:txBody>
          <a:bodyPr lIns="548640" tIns="182880" bIns="0" anchor="ctr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 sz="5400" b="1" cap="all" baseline="0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45983B4-DA5B-E9B4-4C93-FE5A09C14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4813" y="5544090"/>
            <a:ext cx="2963043" cy="804367"/>
          </a:xfrm>
        </p:spPr>
        <p:txBody>
          <a:bodyPr t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A4F68B02-C05D-35BC-FE25-10CEEF045E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988" y="6624556"/>
            <a:ext cx="5408411" cy="1092614"/>
          </a:xfrm>
          <a:solidFill>
            <a:schemeClr val="accent2"/>
          </a:solidFill>
        </p:spPr>
        <p:txBody>
          <a:bodyPr lIns="548640" tIns="182880" bIns="0" anchor="ctr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 sz="5400" b="1" cap="all" baseline="0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9A75573-770E-753A-3991-8AE8A568B2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4811" y="6838187"/>
            <a:ext cx="2963045" cy="665352"/>
          </a:xfrm>
        </p:spPr>
        <p:txBody>
          <a:bodyPr t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5B2C4F8B-2E88-17EB-119F-18F378A80161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4604" y="5459653"/>
            <a:ext cx="1499616" cy="1353312"/>
          </a:xfrm>
        </p:spPr>
        <p:txBody>
          <a:bodyPr>
            <a:normAutofit/>
          </a:bodyPr>
          <a:lstStyle>
            <a:lvl1pPr marL="0" indent="0" algn="ctr">
              <a:buNone/>
              <a:defRPr sz="1400" b="1"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2FD6443-DCCF-F177-9121-2D2A6BF7DF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9200" y="6443508"/>
            <a:ext cx="1590104" cy="691168"/>
          </a:xfrm>
          <a:solidFill>
            <a:schemeClr val="accent1"/>
          </a:solidFill>
        </p:spPr>
        <p:txBody>
          <a:bodyPr lIns="0" tIns="137160" rIns="0" bIns="0" anchor="ctr"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5400" b="1" cap="all" spc="-300" baseline="0">
                <a:solidFill>
                  <a:schemeClr val="accent2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F5BE4317-7748-EC3E-FF19-D8E610B02F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9200" y="7214903"/>
            <a:ext cx="1590104" cy="483107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Chart Placeholder 23">
            <a:extLst>
              <a:ext uri="{FF2B5EF4-FFF2-40B4-BE49-F238E27FC236}">
                <a16:creationId xmlns:a16="http://schemas.microsoft.com/office/drawing/2014/main" id="{87CE804E-615D-0DBE-4ACD-9498FC05318E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099552" y="5459653"/>
            <a:ext cx="1499616" cy="1353312"/>
          </a:xfrm>
        </p:spPr>
        <p:txBody>
          <a:bodyPr>
            <a:normAutofit/>
          </a:bodyPr>
          <a:lstStyle>
            <a:lvl1pPr marL="0" indent="0" algn="ctr">
              <a:buNone/>
              <a:defRPr sz="1400" b="1"/>
            </a:lvl1pPr>
          </a:lstStyle>
          <a:p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A086B15-B175-56ED-30CB-D95624588F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54308" y="6443508"/>
            <a:ext cx="1590104" cy="691168"/>
          </a:xfrm>
          <a:solidFill>
            <a:schemeClr val="accent1"/>
          </a:solidFill>
        </p:spPr>
        <p:txBody>
          <a:bodyPr lIns="0" tIns="137160" rIns="0" bIns="0" anchor="ctr"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5400" b="1" cap="all" spc="-300" baseline="0">
                <a:solidFill>
                  <a:schemeClr val="accent2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734814B-0FF0-B4C5-DAEA-C77A21404C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54308" y="7214903"/>
            <a:ext cx="1590104" cy="483107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Chart Placeholder 23">
            <a:extLst>
              <a:ext uri="{FF2B5EF4-FFF2-40B4-BE49-F238E27FC236}">
                <a16:creationId xmlns:a16="http://schemas.microsoft.com/office/drawing/2014/main" id="{39B6F419-7B3A-9DD3-BB41-E6E6678E9915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855072" y="5459653"/>
            <a:ext cx="1499616" cy="1353312"/>
          </a:xfrm>
        </p:spPr>
        <p:txBody>
          <a:bodyPr>
            <a:normAutofit/>
          </a:bodyPr>
          <a:lstStyle>
            <a:lvl1pPr marL="0" indent="0" algn="ctr">
              <a:buNone/>
              <a:defRPr sz="1400" b="1"/>
            </a:lvl1pPr>
          </a:lstStyle>
          <a:p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EC7C4F7-737D-A661-5E51-8FD5400CA4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09416" y="6443508"/>
            <a:ext cx="1590104" cy="691168"/>
          </a:xfrm>
          <a:solidFill>
            <a:schemeClr val="accent1"/>
          </a:solidFill>
        </p:spPr>
        <p:txBody>
          <a:bodyPr lIns="0" tIns="137160" rIns="0" bIns="0" anchor="ctr"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5400" b="1" cap="all" spc="-300" baseline="0">
                <a:solidFill>
                  <a:schemeClr val="accent2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DC0C4BA-B3DD-1DFD-D9D2-F6DB9B13A4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09416" y="7214903"/>
            <a:ext cx="1590104" cy="483107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1BD219-2BD9-0F4F-568A-C7664FFB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50" y="8151401"/>
            <a:ext cx="10992455" cy="45719"/>
          </a:xfrm>
          <a:prstGeom prst="rect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6D33627-3104-42EA-0AEA-9467D7FCE36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4750" y="7991712"/>
            <a:ext cx="1024128" cy="170992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746F28-FE88-1802-2D62-907B8E6005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4176" y="8636202"/>
            <a:ext cx="9169789" cy="1062318"/>
          </a:xfrm>
        </p:spPr>
        <p:txBody>
          <a:bodyPr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9A512EE-8D5C-545C-171A-C7F90A2ECE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6630" y="9944953"/>
            <a:ext cx="5367770" cy="1323918"/>
          </a:xfrm>
          <a:solidFill>
            <a:schemeClr val="accent2"/>
          </a:solidFill>
        </p:spPr>
        <p:txBody>
          <a:bodyPr lIns="274320" tIns="182880" bIns="0" anchor="ctr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 sz="5400" b="1" cap="all" baseline="0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####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FFC253F-4143-752D-00C5-D953818EB6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25453" y="10165794"/>
            <a:ext cx="2922403" cy="882237"/>
          </a:xfrm>
        </p:spPr>
        <p:txBody>
          <a:bodyPr t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D380C72-CFE3-7F44-2CC7-83AA63571D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7600" y="9944953"/>
            <a:ext cx="5367770" cy="1323918"/>
          </a:xfrm>
          <a:solidFill>
            <a:schemeClr val="accent2"/>
          </a:solidFill>
        </p:spPr>
        <p:txBody>
          <a:bodyPr lIns="274320" tIns="182880" bIns="0" anchor="ctr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 sz="5400" b="1" cap="all" baseline="0">
                <a:solidFill>
                  <a:schemeClr val="bg1"/>
                </a:solidFill>
                <a:latin typeface="+mj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####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2BF102BC-CB96-CB02-9139-32D8887445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65944" y="10165794"/>
            <a:ext cx="3172302" cy="882237"/>
          </a:xfrm>
        </p:spPr>
        <p:txBody>
          <a:bodyPr t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6E303-9FE7-7742-36AD-B1E42190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50" y="11729546"/>
            <a:ext cx="10992455" cy="45719"/>
          </a:xfrm>
          <a:prstGeom prst="rect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2894317-D082-D97C-EEA8-C49D84B0DE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028" y="12072863"/>
            <a:ext cx="8320681" cy="1304000"/>
          </a:xfrm>
        </p:spPr>
        <p:txBody>
          <a:bodyPr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35EEEBE9-1F4E-588A-154D-7D585B3C8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072563" y="12072863"/>
            <a:ext cx="642937" cy="12953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D16FBB7D-2360-D0C1-86DB-4E674C90112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942353" y="12072863"/>
            <a:ext cx="642937" cy="12953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0A8646B3-1B49-2AF8-B4E2-243676B685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812143" y="12072863"/>
            <a:ext cx="642937" cy="12953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549375-BF59-BA30-6C10-55268D8E1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350" y="13674461"/>
            <a:ext cx="10992455" cy="45719"/>
          </a:xfrm>
          <a:prstGeom prst="rect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65C132A3-0F95-1B1C-D57B-61D94C06D27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5029" y="14074380"/>
            <a:ext cx="2509116" cy="882237"/>
          </a:xfrm>
        </p:spPr>
        <p:txBody>
          <a:bodyPr t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6FCEF2-D466-C5F5-BD32-7C299301A0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90193" y="14074380"/>
            <a:ext cx="8303772" cy="1609958"/>
          </a:xfrm>
        </p:spPr>
        <p:txBody>
          <a:bodyPr tIns="0" numCol="3" spcCol="4572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5" indent="0" algn="ctr">
              <a:buNone/>
              <a:defRPr/>
            </a:lvl4pPr>
            <a:lvl5pPr marL="2438339" indent="0" algn="ctr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8932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AD45-1C7C-8078-78AF-DC38C96BAE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36303-5204-D0B3-5BAD-0ED46B52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F0A32-A5A0-4EC5-89D8-E1F3FD4B08C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989AF-B0E3-7F09-86C8-88C53E6429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FD9766-D552-4D33-865B-173EBB38B9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95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9A9D089-225A-F19C-DDC9-A12CD8BE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3141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D00A5-B99B-370A-2424-D34C55BF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27525"/>
            <a:ext cx="10515600" cy="10313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6D4FE-1DF3-11B9-D2E2-18741FC47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5066963"/>
            <a:ext cx="2743200" cy="865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F0A32-A5A0-4EC5-89D8-E1F3FD4B08C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AB49-08A3-C09B-7541-34DFDC936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15066963"/>
            <a:ext cx="2743200" cy="865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D9766-D552-4D33-865B-173EBB38B9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92">
            <a:extLst>
              <a:ext uri="{FF2B5EF4-FFF2-40B4-BE49-F238E27FC236}">
                <a16:creationId xmlns:a16="http://schemas.microsoft.com/office/drawing/2014/main" id="{F8AFC95F-4AEC-7125-002E-DF65C975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98" y="1134316"/>
            <a:ext cx="8196805" cy="2872535"/>
          </a:xfrm>
        </p:spPr>
        <p:txBody>
          <a:bodyPr/>
          <a:lstStyle/>
          <a:p>
            <a:r>
              <a:rPr lang="en-US" sz="7200">
                <a:ea typeface="Calibri"/>
                <a:cs typeface="Calibri"/>
              </a:rPr>
              <a:t>Arduino stopwatch Project</a:t>
            </a:r>
            <a:r>
              <a:rPr lang="en-US" sz="7200" dirty="0">
                <a:ea typeface="Calibri"/>
                <a:cs typeface="Calibri"/>
              </a:rPr>
              <a:t> 2026</a:t>
            </a:r>
          </a:p>
        </p:txBody>
      </p:sp>
      <p:sp>
        <p:nvSpPr>
          <p:cNvPr id="1133" name="Text Placeholder 1132">
            <a:extLst>
              <a:ext uri="{FF2B5EF4-FFF2-40B4-BE49-F238E27FC236}">
                <a16:creationId xmlns:a16="http://schemas.microsoft.com/office/drawing/2014/main" id="{4A9CF247-DC13-6EEB-E848-86575A10C1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989" y="776614"/>
            <a:ext cx="2261384" cy="1304000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stopwatch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1046" name="Picture Placeholder 1045" descr="Graduation Cap">
            <a:extLst>
              <a:ext uri="{FF2B5EF4-FFF2-40B4-BE49-F238E27FC236}">
                <a16:creationId xmlns:a16="http://schemas.microsoft.com/office/drawing/2014/main" id="{2A74EE71-198D-F31A-01A8-2EB26AF3F22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01" b="2901"/>
          <a:stretch/>
        </p:blipFill>
        <p:spPr>
          <a:xfrm>
            <a:off x="8898456" y="1853528"/>
            <a:ext cx="1628552" cy="1226510"/>
          </a:xfrm>
        </p:spPr>
      </p:pic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2C9EFB1D-9F4D-A420-E8AE-5F6CFCF40F8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99773" y="4026530"/>
            <a:ext cx="10992455" cy="525074"/>
          </a:xfrm>
        </p:spPr>
        <p:txBody>
          <a:bodyPr vert="horz" lIns="91440" tIns="0" rIns="91440" bIns="45720" rtlCol="0" anchor="t">
            <a:noAutofit/>
          </a:bodyPr>
          <a:lstStyle/>
          <a:p>
            <a:r>
              <a:rPr lang="en-US" b="0" dirty="0">
                <a:ea typeface="Calibri"/>
                <a:cs typeface="Calibri"/>
              </a:rPr>
              <a:t>By Cathy Finn,</a:t>
            </a:r>
            <a:r>
              <a:rPr lang="en-US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Eavirdas</a:t>
            </a:r>
            <a:r>
              <a:rPr lang="en-US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odziunas</a:t>
            </a:r>
            <a:r>
              <a:rPr lang="en-US" b="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, Connor Brady, Kordian </a:t>
            </a:r>
            <a:r>
              <a:rPr lang="en-GB" b="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Mankowski</a:t>
            </a:r>
            <a:r>
              <a:rPr lang="en-GB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endParaRPr lang="en-US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512" name="Text Placeholder 511">
            <a:extLst>
              <a:ext uri="{FF2B5EF4-FFF2-40B4-BE49-F238E27FC236}">
                <a16:creationId xmlns:a16="http://schemas.microsoft.com/office/drawing/2014/main" id="{60E34802-19D6-FFDC-430A-441FD77C1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988" y="5399966"/>
            <a:ext cx="5408411" cy="1092614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44%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86" name="Text Placeholder 185">
            <a:extLst>
              <a:ext uri="{FF2B5EF4-FFF2-40B4-BE49-F238E27FC236}">
                <a16:creationId xmlns:a16="http://schemas.microsoft.com/office/drawing/2014/main" id="{461043ED-3F40-9CB4-8D2B-F3C87DD7A4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84813" y="5544090"/>
            <a:ext cx="2963043" cy="804367"/>
          </a:xfrm>
        </p:spPr>
        <p:txBody>
          <a:bodyPr/>
          <a:lstStyle/>
          <a:p>
            <a:r>
              <a:rPr lang="en-US" noProof="1">
                <a:ea typeface="Calibri"/>
                <a:cs typeface="Calibri"/>
              </a:rPr>
              <a:t>Our stopwatch successfully performed all required functions</a:t>
            </a:r>
          </a:p>
        </p:txBody>
      </p:sp>
      <p:sp>
        <p:nvSpPr>
          <p:cNvPr id="513" name="Text Placeholder 512">
            <a:extLst>
              <a:ext uri="{FF2B5EF4-FFF2-40B4-BE49-F238E27FC236}">
                <a16:creationId xmlns:a16="http://schemas.microsoft.com/office/drawing/2014/main" id="{71C8437F-6809-B184-8704-5DB7ADB0C9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5988" y="6624556"/>
            <a:ext cx="5408411" cy="1092614"/>
          </a:xfrm>
        </p:spPr>
        <p:txBody>
          <a:bodyPr/>
          <a:lstStyle/>
          <a:p>
            <a:r>
              <a:rPr lang="en-US" dirty="0"/>
              <a:t>35%</a:t>
            </a:r>
          </a:p>
        </p:txBody>
      </p:sp>
      <p:sp>
        <p:nvSpPr>
          <p:cNvPr id="215" name="Text Placeholder 214">
            <a:extLst>
              <a:ext uri="{FF2B5EF4-FFF2-40B4-BE49-F238E27FC236}">
                <a16:creationId xmlns:a16="http://schemas.microsoft.com/office/drawing/2014/main" id="{6807459D-4170-C229-F963-F2976F0EBF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84811" y="6838187"/>
            <a:ext cx="2963045" cy="665352"/>
          </a:xfrm>
        </p:spPr>
        <p:txBody>
          <a:bodyPr/>
          <a:lstStyle/>
          <a:p>
            <a:r>
              <a:rPr lang="en-US" noProof="1">
                <a:ea typeface="Calibri"/>
                <a:cs typeface="Calibri"/>
              </a:rPr>
              <a:t>Start, stop,and reset were implemented using push buttons</a:t>
            </a:r>
          </a:p>
        </p:txBody>
      </p:sp>
      <p:pic>
        <p:nvPicPr>
          <p:cNvPr id="225" name="Chart Placeholder 224" descr="Picture of a pie chart">
            <a:extLst>
              <a:ext uri="{FF2B5EF4-FFF2-40B4-BE49-F238E27FC236}">
                <a16:creationId xmlns:a16="http://schemas.microsoft.com/office/drawing/2014/main" id="{8170C1F5-6744-5770-6ABB-0DE12FC33D1C}"/>
              </a:ext>
            </a:extLst>
          </p:cNvPr>
          <p:cNvPicPr>
            <a:picLocks noGrp="1" noChangeAspect="1"/>
          </p:cNvPicPr>
          <p:nvPr>
            <p:ph type="chart" sz="quarter" idx="22"/>
          </p:nvPr>
        </p:nvPicPr>
        <p:blipFill>
          <a:blip r:embed="rId4"/>
          <a:stretch>
            <a:fillRect/>
          </a:stretch>
        </p:blipFill>
        <p:spPr>
          <a:xfrm>
            <a:off x="6354763" y="5462309"/>
            <a:ext cx="1500187" cy="1348345"/>
          </a:xfr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759D3BD-334F-437B-885B-61E4D9284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99200" y="6443508"/>
            <a:ext cx="1590104" cy="691168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66%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28" name="Chart Placeholder 227" descr="Picture of a pie chart">
            <a:extLst>
              <a:ext uri="{FF2B5EF4-FFF2-40B4-BE49-F238E27FC236}">
                <a16:creationId xmlns:a16="http://schemas.microsoft.com/office/drawing/2014/main" id="{B49493CD-CAF3-16CA-F556-327FCB2E8B6D}"/>
              </a:ext>
            </a:extLst>
          </p:cNvPr>
          <p:cNvPicPr>
            <a:picLocks noGrp="1" noChangeAspect="1"/>
          </p:cNvPicPr>
          <p:nvPr>
            <p:ph type="chart" sz="quarter" idx="23"/>
          </p:nvPr>
        </p:nvPicPr>
        <p:blipFill>
          <a:blip r:embed="rId5"/>
          <a:stretch>
            <a:fillRect/>
          </a:stretch>
        </p:blipFill>
        <p:spPr>
          <a:xfrm>
            <a:off x="8099552" y="5459653"/>
            <a:ext cx="1499616" cy="1353312"/>
          </a:xfrm>
        </p:spPr>
      </p:pic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BC2E49F5-1FC8-2C5B-54E7-9C0F86145F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4308" y="6443508"/>
            <a:ext cx="1590104" cy="691168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63%</a:t>
            </a:r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788876ED-7B0D-5CA6-3681-9D7C9ADA2C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54308" y="7214903"/>
            <a:ext cx="1590104" cy="483107"/>
          </a:xfrm>
        </p:spPr>
        <p:txBody>
          <a:bodyPr vert="horz" lIns="0" tIns="0" rIns="0" bIns="45720" rtlCol="0" anchor="t">
            <a:noAutofit/>
          </a:bodyPr>
          <a:lstStyle/>
          <a:p>
            <a:r>
              <a:rPr lang="en-US" sz="1800">
                <a:ea typeface="Calibri"/>
                <a:cs typeface="Calibri"/>
              </a:rPr>
              <a:t>3 input buttons</a:t>
            </a:r>
          </a:p>
          <a:p>
            <a:r>
              <a:rPr lang="en-US" sz="1800">
                <a:ea typeface="Calibri"/>
                <a:cs typeface="Calibri"/>
              </a:rPr>
              <a:t>Controlled user interaction</a:t>
            </a: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231" name="Chart Placeholder 230" descr="Picture of a pie chart">
            <a:extLst>
              <a:ext uri="{FF2B5EF4-FFF2-40B4-BE49-F238E27FC236}">
                <a16:creationId xmlns:a16="http://schemas.microsoft.com/office/drawing/2014/main" id="{4F47B57D-CEFD-DBA7-FD0A-7B89F9A3FF3B}"/>
              </a:ext>
            </a:extLst>
          </p:cNvPr>
          <p:cNvPicPr>
            <a:picLocks noGrp="1" noChangeAspect="1"/>
          </p:cNvPicPr>
          <p:nvPr>
            <p:ph type="chart" sz="quarter" idx="24"/>
          </p:nvPr>
        </p:nvPicPr>
        <p:blipFill>
          <a:blip r:embed="rId6"/>
          <a:stretch>
            <a:fillRect/>
          </a:stretch>
        </p:blipFill>
        <p:spPr>
          <a:xfrm>
            <a:off x="9855072" y="5459653"/>
            <a:ext cx="1499616" cy="1353312"/>
          </a:xfrm>
        </p:spPr>
      </p:pic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949072CC-D6E8-7DC2-9B01-570AA18C4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09416" y="6443508"/>
            <a:ext cx="1590104" cy="691168"/>
          </a:xfrm>
        </p:spPr>
        <p:txBody>
          <a:bodyPr/>
          <a:lstStyle/>
          <a:p>
            <a:r>
              <a:rPr lang="en-US" dirty="0"/>
              <a:t>20%</a:t>
            </a:r>
          </a:p>
        </p:txBody>
      </p:sp>
      <p:sp>
        <p:nvSpPr>
          <p:cNvPr id="104" name="Text Placeholder 103">
            <a:extLst>
              <a:ext uri="{FF2B5EF4-FFF2-40B4-BE49-F238E27FC236}">
                <a16:creationId xmlns:a16="http://schemas.microsoft.com/office/drawing/2014/main" id="{B91FB20E-B300-F21F-7247-60D4C19643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49017" y="7168370"/>
            <a:ext cx="1605617" cy="390038"/>
          </a:xfrm>
        </p:spPr>
        <p:txBody>
          <a:bodyPr vert="horz" lIns="0" tIns="0" rIns="0" bIns="45720" rtlCol="0" anchor="t">
            <a:noAutofit/>
          </a:bodyPr>
          <a:lstStyle/>
          <a:p>
            <a:r>
              <a:rPr lang="en-US" sz="1800">
                <a:ea typeface="Calibri"/>
                <a:cs typeface="Calibri"/>
              </a:rPr>
              <a:t>Real-time Display </a:t>
            </a:r>
            <a:endParaRPr lang="en-US" sz="1800" dirty="0">
              <a:ea typeface="Calibri"/>
              <a:cs typeface="Calibri"/>
            </a:endParaRPr>
          </a:p>
          <a:p>
            <a:r>
              <a:rPr lang="en-US" sz="1800">
                <a:ea typeface="Calibri"/>
                <a:cs typeface="Calibri"/>
              </a:rPr>
              <a:t>Time updated </a:t>
            </a:r>
            <a:r>
              <a:rPr lang="en-US" sz="1800" dirty="0">
                <a:ea typeface="Calibri"/>
                <a:cs typeface="Calibri"/>
              </a:rPr>
              <a:t>continu</a:t>
            </a:r>
            <a:r>
              <a:rPr lang="en-US" sz="1800">
                <a:ea typeface="Calibri"/>
                <a:cs typeface="Calibri"/>
              </a:rPr>
              <a:t>ously on screen</a:t>
            </a: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493" name="Picture Placeholder 492" descr="Microscope">
            <a:extLst>
              <a:ext uri="{FF2B5EF4-FFF2-40B4-BE49-F238E27FC236}">
                <a16:creationId xmlns:a16="http://schemas.microsoft.com/office/drawing/2014/main" id="{CEA0B215-4FDF-F4F2-A484-B07FF4B9C28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71" b="171"/>
          <a:stretch/>
        </p:blipFill>
        <p:spPr>
          <a:xfrm>
            <a:off x="1054750" y="7991712"/>
            <a:ext cx="1024128" cy="1709928"/>
          </a:xfrm>
        </p:spPr>
      </p:pic>
      <p:sp>
        <p:nvSpPr>
          <p:cNvPr id="301" name="Text Placeholder 300">
            <a:extLst>
              <a:ext uri="{FF2B5EF4-FFF2-40B4-BE49-F238E27FC236}">
                <a16:creationId xmlns:a16="http://schemas.microsoft.com/office/drawing/2014/main" id="{4DF64256-27BC-01AB-7DFF-86F5A69BD6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4176" y="8636202"/>
            <a:ext cx="9030186" cy="891693"/>
          </a:xfrm>
        </p:spPr>
        <p:txBody>
          <a:bodyPr vert="horz" lIns="91440" tIns="0" rIns="91440" bIns="45720" rtlCol="0" anchor="t">
            <a:noAutofit/>
          </a:bodyPr>
          <a:lstStyle/>
          <a:p>
            <a:r>
              <a:rPr lang="en-US" sz="1800" b="0" dirty="0">
                <a:ea typeface="+mn-lt"/>
                <a:cs typeface="+mn-lt"/>
              </a:rPr>
              <a:t>This project focuses on designing and building a digital stopwatch using Arduino. The system allows users to start, stop, and reset time using buttons, while displaying the elapsed time in real-time. The project demonstrates practical applications of programming and electronics.</a:t>
            </a:r>
            <a:endParaRPr lang="en-US" sz="1800">
              <a:ea typeface="Calibri"/>
              <a:cs typeface="Calibri"/>
            </a:endParaRPr>
          </a:p>
        </p:txBody>
      </p:sp>
      <p:sp>
        <p:nvSpPr>
          <p:cNvPr id="514" name="Text Placeholder 513">
            <a:extLst>
              <a:ext uri="{FF2B5EF4-FFF2-40B4-BE49-F238E27FC236}">
                <a16:creationId xmlns:a16="http://schemas.microsoft.com/office/drawing/2014/main" id="{9FAD4ADE-8D11-2F3A-C9A4-7093356BCC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6630" y="9944953"/>
            <a:ext cx="5367770" cy="1323918"/>
          </a:xfrm>
        </p:spPr>
        <p:txBody>
          <a:bodyPr/>
          <a:lstStyle/>
          <a:p>
            <a:r>
              <a:rPr lang="en-US" sz="1800" dirty="0" err="1">
                <a:ea typeface="Calibri"/>
                <a:cs typeface="Calibri"/>
              </a:rPr>
              <a:t>Arduion</a:t>
            </a:r>
            <a:r>
              <a:rPr lang="en-US" sz="1800" dirty="0">
                <a:ea typeface="Calibri"/>
                <a:cs typeface="Calibri"/>
              </a:rPr>
              <a:t>-based</a:t>
            </a:r>
            <a:endParaRPr lang="en-US" dirty="0"/>
          </a:p>
          <a:p>
            <a:r>
              <a:rPr lang="en-US" sz="1800" dirty="0">
                <a:ea typeface="Calibri"/>
                <a:cs typeface="Calibri"/>
              </a:rPr>
              <a:t> system</a:t>
            </a:r>
            <a:endParaRPr lang="en-US"/>
          </a:p>
        </p:txBody>
      </p:sp>
      <p:sp>
        <p:nvSpPr>
          <p:cNvPr id="335" name="Text Placeholder 334">
            <a:extLst>
              <a:ext uri="{FF2B5EF4-FFF2-40B4-BE49-F238E27FC236}">
                <a16:creationId xmlns:a16="http://schemas.microsoft.com/office/drawing/2014/main" id="{D2F82B4B-F3CC-FBC7-98F1-B73292D4950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25453" y="10165794"/>
            <a:ext cx="2922403" cy="882237"/>
          </a:xfrm>
        </p:spPr>
        <p:txBody>
          <a:bodyPr/>
          <a:lstStyle/>
          <a:p>
            <a:r>
              <a:rPr lang="en-US" b="0" noProof="1">
                <a:ea typeface="+mn-lt"/>
                <a:cs typeface="+mn-lt"/>
              </a:rPr>
              <a:t>A microcontroller was used to control timing and inputs</a:t>
            </a:r>
            <a:endParaRPr lang="en-US" dirty="0"/>
          </a:p>
        </p:txBody>
      </p:sp>
      <p:sp>
        <p:nvSpPr>
          <p:cNvPr id="515" name="Text Placeholder 514">
            <a:extLst>
              <a:ext uri="{FF2B5EF4-FFF2-40B4-BE49-F238E27FC236}">
                <a16:creationId xmlns:a16="http://schemas.microsoft.com/office/drawing/2014/main" id="{5E97F193-AC0D-9EE1-0B31-35B4AAD3DF6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97600" y="9944953"/>
            <a:ext cx="5367770" cy="1323918"/>
          </a:xfrm>
        </p:spPr>
        <p:txBody>
          <a:bodyPr/>
          <a:lstStyle/>
          <a:p>
            <a:r>
              <a:rPr lang="en-US" sz="1800" b="0">
                <a:ea typeface="+mj-lt"/>
                <a:cs typeface="+mj-lt"/>
              </a:rPr>
              <a:t>Accurate Time</a:t>
            </a:r>
            <a:endParaRPr lang="en-US">
              <a:ea typeface="+mj-lt"/>
              <a:cs typeface="+mj-lt"/>
            </a:endParaRPr>
          </a:p>
          <a:p>
            <a:r>
              <a:rPr lang="en-US" sz="1800" b="0">
                <a:ea typeface="+mj-lt"/>
                <a:cs typeface="+mj-lt"/>
              </a:rPr>
              <a:t> Tracking</a:t>
            </a:r>
            <a:endParaRPr lang="en-US" b="0">
              <a:ea typeface="Calibri"/>
              <a:cs typeface="Calibri"/>
            </a:endParaRPr>
          </a:p>
        </p:txBody>
      </p:sp>
      <p:sp>
        <p:nvSpPr>
          <p:cNvPr id="365" name="Text Placeholder 364">
            <a:extLst>
              <a:ext uri="{FF2B5EF4-FFF2-40B4-BE49-F238E27FC236}">
                <a16:creationId xmlns:a16="http://schemas.microsoft.com/office/drawing/2014/main" id="{B612F01F-550F-F426-1526-B79FE0BA4BC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65944" y="10165794"/>
            <a:ext cx="3172302" cy="882237"/>
          </a:xfrm>
        </p:spPr>
        <p:txBody>
          <a:bodyPr/>
          <a:lstStyle/>
          <a:p>
            <a:r>
              <a:rPr lang="en-US" b="0">
                <a:ea typeface="+mn-lt"/>
                <a:cs typeface="+mn-lt"/>
              </a:rPr>
              <a:t>The stopwatch used code functions to measure time precisely.</a:t>
            </a:r>
            <a:endParaRPr lang="en-US"/>
          </a:p>
        </p:txBody>
      </p:sp>
      <p:sp>
        <p:nvSpPr>
          <p:cNvPr id="516" name="Text Placeholder 515">
            <a:extLst>
              <a:ext uri="{FF2B5EF4-FFF2-40B4-BE49-F238E27FC236}">
                <a16:creationId xmlns:a16="http://schemas.microsoft.com/office/drawing/2014/main" id="{94C589D9-4401-7788-910D-40AF39E8799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7073" y="12072863"/>
            <a:ext cx="8537843" cy="1102352"/>
          </a:xfrm>
        </p:spPr>
        <p:txBody>
          <a:bodyPr vert="horz" lIns="91440" tIns="0" rIns="91440" bIns="45720" rtlCol="0" anchor="t">
            <a:noAutofit/>
          </a:bodyPr>
          <a:lstStyle/>
          <a:p>
            <a:r>
              <a:rPr lang="en-US" sz="2000" b="0">
                <a:ea typeface="+mn-lt"/>
                <a:cs typeface="+mn-lt"/>
              </a:rPr>
              <a:t>This project helped develop skills in coding, circuit design, and teamwork. Challenges such as wiring errors and button sensitivity were overcome, resulting in a fully working stopwatch system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805" name="Picture Placeholder 804" descr="Person Outline Icon">
            <a:extLst>
              <a:ext uri="{FF2B5EF4-FFF2-40B4-BE49-F238E27FC236}">
                <a16:creationId xmlns:a16="http://schemas.microsoft.com/office/drawing/2014/main" id="{BF000C05-1009-6241-73A3-D19A2F50906B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79" r="679"/>
          <a:stretch/>
        </p:blipFill>
        <p:spPr>
          <a:xfrm>
            <a:off x="9072563" y="12072863"/>
            <a:ext cx="642937" cy="1295391"/>
          </a:xfrm>
        </p:spPr>
      </p:pic>
      <p:pic>
        <p:nvPicPr>
          <p:cNvPr id="807" name="Picture Placeholder 806" descr="Person Outline Icon">
            <a:extLst>
              <a:ext uri="{FF2B5EF4-FFF2-40B4-BE49-F238E27FC236}">
                <a16:creationId xmlns:a16="http://schemas.microsoft.com/office/drawing/2014/main" id="{67C7EE22-4C9D-4C66-65EC-46F86D32F1C5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79" r="679"/>
          <a:stretch/>
        </p:blipFill>
        <p:spPr>
          <a:xfrm>
            <a:off x="9942353" y="12072863"/>
            <a:ext cx="642937" cy="1295391"/>
          </a:xfrm>
        </p:spPr>
      </p:pic>
      <p:pic>
        <p:nvPicPr>
          <p:cNvPr id="809" name="Picture Placeholder 808" descr="Person Icon">
            <a:extLst>
              <a:ext uri="{FF2B5EF4-FFF2-40B4-BE49-F238E27FC236}">
                <a16:creationId xmlns:a16="http://schemas.microsoft.com/office/drawing/2014/main" id="{D643F88C-A18C-8FEA-933D-90D7F6B4FEAA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79" r="679"/>
          <a:stretch/>
        </p:blipFill>
        <p:spPr>
          <a:xfrm>
            <a:off x="10812143" y="12072863"/>
            <a:ext cx="642937" cy="1295391"/>
          </a:xfrm>
        </p:spPr>
      </p:pic>
      <p:sp>
        <p:nvSpPr>
          <p:cNvPr id="576" name="Text Placeholder 575">
            <a:extLst>
              <a:ext uri="{FF2B5EF4-FFF2-40B4-BE49-F238E27FC236}">
                <a16:creationId xmlns:a16="http://schemas.microsoft.com/office/drawing/2014/main" id="{0D1C8A8D-6E95-6BF6-7360-3BBD3C984C9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5029" y="14074380"/>
            <a:ext cx="2509116" cy="882237"/>
          </a:xfrm>
        </p:spPr>
        <p:txBody>
          <a:bodyPr/>
          <a:lstStyle/>
          <a:p>
            <a:r>
              <a:rPr lang="en-US" dirty="0"/>
              <a:t>www.bellowscollege.com</a:t>
            </a:r>
          </a:p>
          <a:p>
            <a:r>
              <a:rPr lang="en-US" dirty="0"/>
              <a:t>info@bellowscollege.com</a:t>
            </a:r>
          </a:p>
          <a:p>
            <a:r>
              <a:rPr lang="en-US" dirty="0"/>
              <a:t>208 555 0100</a:t>
            </a:r>
          </a:p>
        </p:txBody>
      </p:sp>
      <p:sp>
        <p:nvSpPr>
          <p:cNvPr id="577" name="Text Placeholder 576">
            <a:extLst>
              <a:ext uri="{FF2B5EF4-FFF2-40B4-BE49-F238E27FC236}">
                <a16:creationId xmlns:a16="http://schemas.microsoft.com/office/drawing/2014/main" id="{1D5280D1-B0FF-C75F-DC3D-9981E24E03D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290193" y="14074380"/>
            <a:ext cx="8303772" cy="1609958"/>
          </a:xfrm>
        </p:spPr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DE9C07-8178-800C-C4C8-DBA96D488C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0" tIns="0" rIns="0" bIns="45720" rtlCol="0" anchor="t">
            <a:noAutofit/>
          </a:bodyPr>
          <a:lstStyle/>
          <a:p>
            <a:r>
              <a:rPr lang="en-GB" sz="1800" dirty="0">
                <a:ea typeface="Calibri"/>
                <a:cs typeface="Calibri"/>
              </a:rPr>
              <a:t>1 </a:t>
            </a:r>
            <a:r>
              <a:rPr lang="en-GB" sz="1800" dirty="0" err="1">
                <a:ea typeface="Calibri"/>
                <a:cs typeface="Calibri"/>
              </a:rPr>
              <a:t>arduino</a:t>
            </a:r>
            <a:r>
              <a:rPr lang="en-GB" sz="1800" dirty="0">
                <a:ea typeface="Calibri"/>
                <a:cs typeface="Calibri"/>
              </a:rPr>
              <a:t> bored</a:t>
            </a:r>
          </a:p>
          <a:p>
            <a:r>
              <a:rPr lang="en-GB" sz="1800">
                <a:ea typeface="Calibri"/>
                <a:cs typeface="Calibri"/>
              </a:rPr>
              <a:t>Used as the main controller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1DE082-EBEF-CD86-22FC-13BC36934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0800000" flipV="1">
            <a:off x="4888505" y="13724252"/>
            <a:ext cx="3732927" cy="2502676"/>
          </a:xfrm>
          <a:prstGeom prst="rect">
            <a:avLst/>
          </a:prstGeom>
        </p:spPr>
      </p:pic>
      <p:pic>
        <p:nvPicPr>
          <p:cNvPr id="11" name="Picture 10" descr="A circuit board with wires and a screen&#10;&#10;AI-generated content may be incorrect.">
            <a:extLst>
              <a:ext uri="{FF2B5EF4-FFF2-40B4-BE49-F238E27FC236}">
                <a16:creationId xmlns:a16="http://schemas.microsoft.com/office/drawing/2014/main" id="{24C87CAE-7542-19BE-88A2-BADE6A1A8C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2443" y="13722393"/>
            <a:ext cx="3562303" cy="2492013"/>
          </a:xfrm>
          <a:prstGeom prst="rect">
            <a:avLst/>
          </a:prstGeom>
        </p:spPr>
      </p:pic>
      <p:pic>
        <p:nvPicPr>
          <p:cNvPr id="12" name="Picture 11" descr="A circuit board with wires and a green screen&#10;&#10;AI-generated content may be incorrect.">
            <a:extLst>
              <a:ext uri="{FF2B5EF4-FFF2-40B4-BE49-F238E27FC236}">
                <a16:creationId xmlns:a16="http://schemas.microsoft.com/office/drawing/2014/main" id="{93501A21-3023-E209-6754-C4E4E04C35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048" y="13722282"/>
            <a:ext cx="5097934" cy="249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042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F7FC"/>
      </a:accent1>
      <a:accent2>
        <a:srgbClr val="2E7BC8"/>
      </a:accent2>
      <a:accent3>
        <a:srgbClr val="FFFEEB"/>
      </a:accent3>
      <a:accent4>
        <a:srgbClr val="C15764"/>
      </a:accent4>
      <a:accent5>
        <a:srgbClr val="F5A26F"/>
      </a:accent5>
      <a:accent6>
        <a:srgbClr val="C6FEDA"/>
      </a:accent6>
      <a:hlink>
        <a:srgbClr val="D2B356"/>
      </a:hlink>
      <a:folHlink>
        <a:srgbClr val="C59169"/>
      </a:folHlink>
    </a:clrScheme>
    <a:fontScheme name="Custom 7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81421_Win32_SL_v4" id="{A05BC38D-7A36-434C-AE58-671B91A32AC4}" vid="{BA7B049D-A6D9-479D-80E8-6A737482F9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7CE127-7813-43B3-896B-0FC731E05D0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891D39D-0B59-4B56-81CF-15F533A134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6227D2-E40E-4221-BAD8-76574753A1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234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</vt:lpstr>
      <vt:lpstr>Arduino stopwatch Project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2026-05-05T12:08:18Z</dcterms:created>
  <dcterms:modified xsi:type="dcterms:W3CDTF">2026-05-05T13:03:12Z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